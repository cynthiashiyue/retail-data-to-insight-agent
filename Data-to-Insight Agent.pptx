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587"/>
    <a:srgbClr val="0073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70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B806-273C-2A44-990F-6D361A305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02831-FD0F-9446-BE3D-A4838047E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03E9F-F5CF-5146-AB3E-3AC78D117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FA8A3-8DAE-BF42-91FB-3D07C2CE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6EBAA-9D5A-0B42-B0B5-0C9D251E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57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B072-974D-E041-80E5-63E66371B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D26BD-F1D6-184E-ABDB-44B40411B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C029A-7EBF-8646-98C9-13F1CF22F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5F8F3-0BB4-A041-8772-114A73C7A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B7673-C561-D843-A1EF-31B62C77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2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BAEBC-9D86-484D-82B4-60DE3C9EA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BC4E2-7C23-6943-B9C7-186E9C4C5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387AF-209D-054B-AA9F-9C87303BE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A71E3-24FA-624A-83F1-329C9316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095AD-56EF-BB42-A30D-7474759F4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81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09C6-ECE4-C744-A3CB-1F061E9C6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2D9D0-7E0D-BE4C-88A7-2C22861F7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5F1AB-F99B-F34E-A77D-33C87F556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E9834-34FB-634C-BD62-FDE5BA0C8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4613A-22BF-B140-8C42-006DB0B28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5B9F6-6059-5B41-A68A-A67C99B8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8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7197-0EE2-A342-B5CD-547DCB81B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3A180-9DC0-B64F-888A-AFA6C6EF4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E6241-6D71-4243-8A5E-651640355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76DB3-9D12-A042-B8A1-D30C1F8C4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7BCB5-6D7D-3348-AC25-E623634A6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7A8C6-C9B6-A54D-8B75-DCCB610CD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98A7FE-7F17-AC4F-839C-6F4D5362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17801-B467-E545-B085-3D3D7E3D2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8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C621-AEAC-AD42-8CCE-13B08183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DB016D-E282-E640-9C92-B6251DCC6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4DB0AB-AEA3-1446-BC96-4EF18A79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B0A4FB-7D4F-8249-BFF1-DFDEB87B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08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4DA33E-0A63-C746-A744-46C41D97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22E01F-9F4E-3049-9259-443BC5EA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AA8FE-E5A8-274A-99EE-C6B6D7FE9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7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F87BD-F29A-374B-9234-F9F31FD2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1665D-1029-094F-9884-32A259E56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0633D-0122-B041-A85A-7924137A9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9E1E6-DBEF-E54E-A93E-6E3A7193A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5A4F3-15B8-5948-8831-3CF884B02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DE4C2-5F3B-A74B-8653-02417379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82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E74F6-1025-5E44-AEE3-A25A5C07B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AA300-9699-B146-92B3-43FEB29EF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199DF-3794-9A4E-8DFD-FF5662F5F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FE4F8-DA2E-7A40-AF86-4F8ACCA94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CEAD3-6493-E34F-87B9-1EF7CF91A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5AFD3-A240-B642-A617-2BEF1E7B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4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5BE49-20F2-F84B-8119-63BB77C6C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05E0B-C610-DB49-A185-24E7C3EC2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703DF-1BE7-1A41-A0EA-67D37ED0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4C795-0A1C-B64C-94EB-C5F16B80F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3F201-E985-F344-97FC-D4EFA0DA3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02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F0BDD-6CC1-9545-B6DD-C394460F7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D61AE-4017-B645-A4E6-0FEB2D4AC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B4309-4C0E-E64D-9488-EAF3ADDE4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13DF-B409-564E-84E2-1AAB41653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03EFC-B100-604F-9C7C-A7C5F0845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71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C978EC-9907-6E4C-A668-EC9E906DC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42C08-3D8F-EE44-AD04-E6C4E62AD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5358F-05A0-BC46-AE44-EADDC46D2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78A00-85E6-BE4A-86D2-B297BF564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9717F-D07F-9948-BA45-D728523E7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9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27064FC-680E-FDE7-6668-F85D8CEAE70F}"/>
              </a:ext>
            </a:extLst>
          </p:cNvPr>
          <p:cNvSpPr/>
          <p:nvPr/>
        </p:nvSpPr>
        <p:spPr>
          <a:xfrm>
            <a:off x="693068" y="1648235"/>
            <a:ext cx="4059155" cy="1505701"/>
          </a:xfrm>
          <a:prstGeom prst="roundRect">
            <a:avLst/>
          </a:prstGeom>
          <a:solidFill>
            <a:schemeClr val="bg2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260AEEE-8EE8-4FF3-22F2-DAD400309DD5}"/>
              </a:ext>
            </a:extLst>
          </p:cNvPr>
          <p:cNvSpPr/>
          <p:nvPr/>
        </p:nvSpPr>
        <p:spPr>
          <a:xfrm>
            <a:off x="7173926" y="1685304"/>
            <a:ext cx="4059155" cy="1505701"/>
          </a:xfrm>
          <a:prstGeom prst="roundRect">
            <a:avLst/>
          </a:prstGeom>
          <a:solidFill>
            <a:schemeClr val="bg2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0FE0919-549E-207F-A17B-2C0A7265B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481" y="146464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Objective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en-US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Manual Reporting to Automated Insight</a:t>
            </a:r>
            <a:endParaRPr lang="en-US" sz="3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52CBE-030F-12C4-6D0E-5DF020941302}"/>
              </a:ext>
            </a:extLst>
          </p:cNvPr>
          <p:cNvSpPr txBox="1"/>
          <p:nvPr/>
        </p:nvSpPr>
        <p:spPr>
          <a:xfrm>
            <a:off x="811208" y="1756279"/>
            <a:ext cx="3941015" cy="120032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>
            <a:sp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managers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 hours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checking spreadsheets to find trends and track performance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a slow, error-prone process.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BE98B5-8243-3D32-E9BE-5A7218B0A5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750"/>
          <a:stretch>
            <a:fillRect/>
          </a:stretch>
        </p:blipFill>
        <p:spPr>
          <a:xfrm>
            <a:off x="3174482" y="3330144"/>
            <a:ext cx="5843036" cy="3228296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1AC339D9-9D27-C118-806C-F1801010C8F9}"/>
              </a:ext>
            </a:extLst>
          </p:cNvPr>
          <p:cNvSpPr/>
          <p:nvPr/>
        </p:nvSpPr>
        <p:spPr>
          <a:xfrm>
            <a:off x="5397842" y="2145720"/>
            <a:ext cx="1346887" cy="407773"/>
          </a:xfrm>
          <a:prstGeom prst="rightArrow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35F74B-3037-5382-CEF5-CE62804D9159}"/>
              </a:ext>
            </a:extLst>
          </p:cNvPr>
          <p:cNvSpPr txBox="1"/>
          <p:nvPr/>
        </p:nvSpPr>
        <p:spPr>
          <a:xfrm>
            <a:off x="7248945" y="1811228"/>
            <a:ext cx="3947066" cy="120032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>
            <a:sp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Data Analyst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trend detection, generates insights, and recommends next actions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enabling faster,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993476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FE3A6218-B988-093F-D8ED-10669471C0F4}"/>
              </a:ext>
            </a:extLst>
          </p:cNvPr>
          <p:cNvSpPr/>
          <p:nvPr/>
        </p:nvSpPr>
        <p:spPr>
          <a:xfrm>
            <a:off x="580770" y="1433387"/>
            <a:ext cx="9059551" cy="2656703"/>
          </a:xfrm>
          <a:prstGeom prst="rect">
            <a:avLst/>
          </a:prstGeom>
          <a:solidFill>
            <a:schemeClr val="tx2">
              <a:lumMod val="20000"/>
              <a:lumOff val="80000"/>
              <a:alpha val="354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527E2E0-6201-8CFB-B8FC-37615302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178" y="12983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Architecture</a:t>
            </a:r>
            <a:r>
              <a:rPr lang="zh-CN" alt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Data</a:t>
            </a:r>
            <a:r>
              <a:rPr lang="zh-CN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Insight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747A0C-138A-FA26-2B37-8BEBEBE482EB}"/>
              </a:ext>
            </a:extLst>
          </p:cNvPr>
          <p:cNvGrpSpPr/>
          <p:nvPr/>
        </p:nvGrpSpPr>
        <p:grpSpPr>
          <a:xfrm>
            <a:off x="5280876" y="1540761"/>
            <a:ext cx="1913199" cy="2420351"/>
            <a:chOff x="5035417" y="1373173"/>
            <a:chExt cx="1913199" cy="2420351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ABF3B1E-EC08-37D8-F535-A5BF38AE3A8F}"/>
                </a:ext>
              </a:extLst>
            </p:cNvPr>
            <p:cNvSpPr/>
            <p:nvPr/>
          </p:nvSpPr>
          <p:spPr>
            <a:xfrm>
              <a:off x="5035417" y="1472027"/>
              <a:ext cx="1913199" cy="2321497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CBCA1D7-3BA9-761E-8A60-307EEA0F7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10216" b="27725"/>
            <a:stretch>
              <a:fillRect/>
            </a:stretch>
          </p:blipFill>
          <p:spPr>
            <a:xfrm>
              <a:off x="5240686" y="1373173"/>
              <a:ext cx="1327962" cy="132556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6D9E758-DED5-BC31-760E-4342200F3112}"/>
                </a:ext>
              </a:extLst>
            </p:cNvPr>
            <p:cNvSpPr txBox="1"/>
            <p:nvPr/>
          </p:nvSpPr>
          <p:spPr>
            <a:xfrm>
              <a:off x="5154187" y="2698736"/>
              <a:ext cx="165103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Insight Generation 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(LLM)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04C3E0-4A56-2AEE-48C4-4037EABEDFFC}"/>
              </a:ext>
            </a:extLst>
          </p:cNvPr>
          <p:cNvGrpSpPr/>
          <p:nvPr/>
        </p:nvGrpSpPr>
        <p:grpSpPr>
          <a:xfrm>
            <a:off x="2996527" y="1639615"/>
            <a:ext cx="1913199" cy="2321497"/>
            <a:chOff x="5035417" y="1472027"/>
            <a:chExt cx="1913199" cy="2321497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6A58B1D7-90E1-A1CA-274C-8013EBF9C073}"/>
                </a:ext>
              </a:extLst>
            </p:cNvPr>
            <p:cNvSpPr/>
            <p:nvPr/>
          </p:nvSpPr>
          <p:spPr>
            <a:xfrm>
              <a:off x="5035417" y="1472027"/>
              <a:ext cx="1913199" cy="2321497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49FD2BB-C84A-F44A-7AF8-1D47AC80DA14}"/>
                </a:ext>
              </a:extLst>
            </p:cNvPr>
            <p:cNvSpPr txBox="1"/>
            <p:nvPr/>
          </p:nvSpPr>
          <p:spPr>
            <a:xfrm>
              <a:off x="5154187" y="2698736"/>
              <a:ext cx="165103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Standardization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(LLM)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5870B9-5FC5-9B95-88C2-2F5056B3758B}"/>
              </a:ext>
            </a:extLst>
          </p:cNvPr>
          <p:cNvGrpSpPr/>
          <p:nvPr/>
        </p:nvGrpSpPr>
        <p:grpSpPr>
          <a:xfrm>
            <a:off x="712178" y="1639615"/>
            <a:ext cx="1913199" cy="2321497"/>
            <a:chOff x="5035417" y="1472027"/>
            <a:chExt cx="1913199" cy="2321497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E8318921-5731-FC92-BB1A-345580A7529E}"/>
                </a:ext>
              </a:extLst>
            </p:cNvPr>
            <p:cNvSpPr/>
            <p:nvPr/>
          </p:nvSpPr>
          <p:spPr>
            <a:xfrm>
              <a:off x="5035417" y="1472027"/>
              <a:ext cx="1913199" cy="2321497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C720497-62F9-FE1B-C0BF-7ED123A05429}"/>
                </a:ext>
              </a:extLst>
            </p:cNvPr>
            <p:cNvSpPr txBox="1"/>
            <p:nvPr/>
          </p:nvSpPr>
          <p:spPr>
            <a:xfrm>
              <a:off x="5154187" y="2698736"/>
              <a:ext cx="165103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Upload 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CSV / Excel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C8D8747-0818-6D44-B5B6-E75DDF2DA0C8}"/>
              </a:ext>
            </a:extLst>
          </p:cNvPr>
          <p:cNvGrpSpPr/>
          <p:nvPr/>
        </p:nvGrpSpPr>
        <p:grpSpPr>
          <a:xfrm>
            <a:off x="7565225" y="1639615"/>
            <a:ext cx="1913199" cy="2321497"/>
            <a:chOff x="5035417" y="1472027"/>
            <a:chExt cx="1913199" cy="2321497"/>
          </a:xfrm>
        </p:grpSpPr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7AF37CEC-812D-54FC-5D5B-3B362B87B54E}"/>
                </a:ext>
              </a:extLst>
            </p:cNvPr>
            <p:cNvSpPr/>
            <p:nvPr/>
          </p:nvSpPr>
          <p:spPr>
            <a:xfrm>
              <a:off x="5035417" y="1472027"/>
              <a:ext cx="1913199" cy="2321497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03C18FA-A2C7-6CF5-4754-F9DBBB8D2A61}"/>
                </a:ext>
              </a:extLst>
            </p:cNvPr>
            <p:cNvSpPr txBox="1"/>
            <p:nvPr/>
          </p:nvSpPr>
          <p:spPr>
            <a:xfrm>
              <a:off x="5154187" y="2698736"/>
              <a:ext cx="165103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Dynamic KPI &amp; Anomaly Computation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3CF6431-4885-F2FA-BA87-5BB3E00E2CD3}"/>
              </a:ext>
            </a:extLst>
          </p:cNvPr>
          <p:cNvSpPr txBox="1"/>
          <p:nvPr/>
        </p:nvSpPr>
        <p:spPr>
          <a:xfrm>
            <a:off x="9968341" y="2866324"/>
            <a:ext cx="16510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3929E36D-6548-7AFE-7506-B32BC60FC3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14838"/>
          <a:stretch>
            <a:fillRect/>
          </a:stretch>
        </p:blipFill>
        <p:spPr>
          <a:xfrm>
            <a:off x="1161502" y="1715667"/>
            <a:ext cx="1041400" cy="1092371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AEAB3D8A-E36C-C4C0-BB43-00CEE6FA52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4838"/>
          <a:stretch>
            <a:fillRect/>
          </a:stretch>
        </p:blipFill>
        <p:spPr>
          <a:xfrm>
            <a:off x="3404642" y="1715667"/>
            <a:ext cx="1096966" cy="1150657"/>
          </a:xfrm>
          <a:prstGeom prst="rect">
            <a:avLst/>
          </a:prstGeom>
        </p:spPr>
      </p:pic>
      <p:sp>
        <p:nvSpPr>
          <p:cNvPr id="50" name="Right Arrow 49">
            <a:extLst>
              <a:ext uri="{FF2B5EF4-FFF2-40B4-BE49-F238E27FC236}">
                <a16:creationId xmlns:a16="http://schemas.microsoft.com/office/drawing/2014/main" id="{F182B948-1AEE-264E-B581-8607B0474DE3}"/>
              </a:ext>
            </a:extLst>
          </p:cNvPr>
          <p:cNvSpPr/>
          <p:nvPr/>
        </p:nvSpPr>
        <p:spPr>
          <a:xfrm>
            <a:off x="2714969" y="2721541"/>
            <a:ext cx="191966" cy="17299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5846C153-B70C-F724-F2A4-00860BBBDA5D}"/>
              </a:ext>
            </a:extLst>
          </p:cNvPr>
          <p:cNvSpPr/>
          <p:nvPr/>
        </p:nvSpPr>
        <p:spPr>
          <a:xfrm>
            <a:off x="4999318" y="2721541"/>
            <a:ext cx="191966" cy="17299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Arrow 51">
            <a:extLst>
              <a:ext uri="{FF2B5EF4-FFF2-40B4-BE49-F238E27FC236}">
                <a16:creationId xmlns:a16="http://schemas.microsoft.com/office/drawing/2014/main" id="{1E31C209-E882-0CE6-5712-AC1339DFE3C6}"/>
              </a:ext>
            </a:extLst>
          </p:cNvPr>
          <p:cNvSpPr/>
          <p:nvPr/>
        </p:nvSpPr>
        <p:spPr>
          <a:xfrm>
            <a:off x="7283667" y="2721541"/>
            <a:ext cx="191966" cy="17299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9A3301BB-EA15-DBB9-F5E1-C9C0C60CFAE4}"/>
              </a:ext>
            </a:extLst>
          </p:cNvPr>
          <p:cNvSpPr/>
          <p:nvPr/>
        </p:nvSpPr>
        <p:spPr>
          <a:xfrm>
            <a:off x="9643317" y="2721541"/>
            <a:ext cx="191966" cy="172994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38058457-0AEB-8D3A-61A5-35F35DFE61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4838"/>
          <a:stretch>
            <a:fillRect/>
          </a:stretch>
        </p:blipFill>
        <p:spPr>
          <a:xfrm>
            <a:off x="7998102" y="1719166"/>
            <a:ext cx="1096966" cy="1150657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D1F5EAD-A433-6438-3F2D-0F120FAC2D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1581"/>
          <a:stretch>
            <a:fillRect/>
          </a:stretch>
        </p:blipFill>
        <p:spPr>
          <a:xfrm>
            <a:off x="10100808" y="1585079"/>
            <a:ext cx="1386103" cy="133881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BEAABA19-9714-75E2-CB37-3FD4F342DD3F}"/>
              </a:ext>
            </a:extLst>
          </p:cNvPr>
          <p:cNvSpPr txBox="1"/>
          <p:nvPr/>
        </p:nvSpPr>
        <p:spPr>
          <a:xfrm>
            <a:off x="2851881" y="5646063"/>
            <a:ext cx="6488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workflow illustrates how raw retail data is transformed into actionable insights through an LLM-powered analysis pipeline.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05828B-4EB2-161F-0148-964B8CF91D6D}"/>
              </a:ext>
            </a:extLst>
          </p:cNvPr>
          <p:cNvSpPr txBox="1"/>
          <p:nvPr/>
        </p:nvSpPr>
        <p:spPr>
          <a:xfrm>
            <a:off x="801982" y="4168735"/>
            <a:ext cx="17335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5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upload weekly retail sales data for automated analysis.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D28FD38-8A75-0252-22EB-CD7985FEA9C1}"/>
              </a:ext>
            </a:extLst>
          </p:cNvPr>
          <p:cNvSpPr txBox="1"/>
          <p:nvPr/>
        </p:nvSpPr>
        <p:spPr>
          <a:xfrm>
            <a:off x="3111910" y="4168735"/>
            <a:ext cx="16115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buNone/>
              <a:defRPr sz="15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The LLM maps inconsistent column names to a unified schema.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B26D071-3A49-3DC2-419B-94A3D1D8C8DE}"/>
              </a:ext>
            </a:extLst>
          </p:cNvPr>
          <p:cNvSpPr txBox="1"/>
          <p:nvPr/>
        </p:nvSpPr>
        <p:spPr>
          <a:xfrm>
            <a:off x="5299847" y="4168735"/>
            <a:ext cx="18110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buNone/>
              <a:defRPr sz="15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AI analyzes trends and summarizes business insights and recommendations.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DC46A30-65C0-20F2-3ACD-FCE5BD4EE07D}"/>
              </a:ext>
            </a:extLst>
          </p:cNvPr>
          <p:cNvSpPr txBox="1"/>
          <p:nvPr/>
        </p:nvSpPr>
        <p:spPr>
          <a:xfrm>
            <a:off x="7687200" y="4168735"/>
            <a:ext cx="16157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buNone/>
              <a:defRPr sz="15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Computes key metrics and detects outliers via Z-score.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24FAA6-FB42-CE71-BC22-BFE75405B235}"/>
              </a:ext>
            </a:extLst>
          </p:cNvPr>
          <p:cNvSpPr txBox="1"/>
          <p:nvPr/>
        </p:nvSpPr>
        <p:spPr>
          <a:xfrm>
            <a:off x="9920053" y="4168735"/>
            <a:ext cx="17476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buNone/>
              <a:defRPr sz="15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Displays insights and KPIs in an interactive view where users filter by region and date range.</a:t>
            </a:r>
          </a:p>
        </p:txBody>
      </p:sp>
    </p:spTree>
    <p:extLst>
      <p:ext uri="{BB962C8B-B14F-4D97-AF65-F5344CB8AC3E}">
        <p14:creationId xmlns:p14="http://schemas.microsoft.com/office/powerpoint/2010/main" val="369684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EA9F-7215-6018-81A1-29032D5FC037}"/>
              </a:ext>
            </a:extLst>
          </p:cNvPr>
          <p:cNvGrpSpPr/>
          <p:nvPr/>
        </p:nvGrpSpPr>
        <p:grpSpPr>
          <a:xfrm>
            <a:off x="583741" y="1016645"/>
            <a:ext cx="3271968" cy="2974588"/>
            <a:chOff x="360920" y="1325563"/>
            <a:chExt cx="3271968" cy="31778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577781-64A2-8460-1FD1-CD4E7D97EF0D}"/>
                </a:ext>
              </a:extLst>
            </p:cNvPr>
            <p:cNvSpPr/>
            <p:nvPr/>
          </p:nvSpPr>
          <p:spPr>
            <a:xfrm>
              <a:off x="360920" y="1325564"/>
              <a:ext cx="3271968" cy="317781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21066"/>
              </a:schemeClr>
            </a:solidFill>
            <a:ln w="19050">
              <a:solidFill>
                <a:srgbClr val="0055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4CBE2A1-B406-3DD3-94A7-365C083C315F}"/>
                </a:ext>
              </a:extLst>
            </p:cNvPr>
            <p:cNvSpPr txBox="1"/>
            <p:nvPr/>
          </p:nvSpPr>
          <p:spPr>
            <a:xfrm>
              <a:off x="360920" y="1825725"/>
              <a:ext cx="3271968" cy="266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Integrates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Ollama GPT API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for automated column mapping.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LLM infers target schema fields </a:t>
              </a:r>
              <a:r>
                <a:rPr lang="zh-CN" alt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1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Week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Sales</a:t>
              </a:r>
              <a:r>
                <a:rPr lang="en-US" altLang="zh-CN" sz="1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aligns optional variables (</a:t>
              </a:r>
              <a:r>
                <a:rPr lang="en-US" sz="1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Holiday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CPI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etc.) through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semantic matching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Handles edge cases such as datasets with only store IDs (treated as </a:t>
              </a:r>
              <a:r>
                <a:rPr lang="en-US" sz="1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categories).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Final output is a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standardized, validated dataset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with consistent field names for downstream analysis.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BA4853A-A8E2-5B41-3139-195007CDD479}"/>
                </a:ext>
              </a:extLst>
            </p:cNvPr>
            <p:cNvSpPr/>
            <p:nvPr/>
          </p:nvSpPr>
          <p:spPr>
            <a:xfrm>
              <a:off x="360920" y="1325563"/>
              <a:ext cx="3271968" cy="485305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Preprocessing Module </a:t>
              </a:r>
            </a:p>
            <a:p>
              <a:pPr algn="ctr"/>
              <a:r>
                <a:rPr lang="zh-CN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LLM-based Schema Standardization</a:t>
              </a:r>
              <a:r>
                <a:rPr lang="zh-CN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2E788DC-1000-8A6D-E5BF-1DB57DC12A95}"/>
              </a:ext>
            </a:extLst>
          </p:cNvPr>
          <p:cNvGrpSpPr/>
          <p:nvPr/>
        </p:nvGrpSpPr>
        <p:grpSpPr>
          <a:xfrm>
            <a:off x="4439047" y="1016645"/>
            <a:ext cx="3271968" cy="2974588"/>
            <a:chOff x="3956734" y="1325563"/>
            <a:chExt cx="3271968" cy="31778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FFF7ABE-EA43-D886-398E-BF51554BDA05}"/>
                </a:ext>
              </a:extLst>
            </p:cNvPr>
            <p:cNvSpPr/>
            <p:nvPr/>
          </p:nvSpPr>
          <p:spPr>
            <a:xfrm>
              <a:off x="3956734" y="1325564"/>
              <a:ext cx="3271968" cy="317781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21066"/>
              </a:schemeClr>
            </a:solidFill>
            <a:ln w="19050">
              <a:solidFill>
                <a:srgbClr val="0055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2953053-57C3-1A6E-AF30-3359EB5071EE}"/>
                </a:ext>
              </a:extLst>
            </p:cNvPr>
            <p:cNvSpPr txBox="1"/>
            <p:nvPr/>
          </p:nvSpPr>
          <p:spPr>
            <a:xfrm>
              <a:off x="3956734" y="1825725"/>
              <a:ext cx="3271968" cy="22929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Employs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LLM integration via Ollama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analyze short-, medium-, and long-term sales trends.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Summarizes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key regional differences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performance anomalies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and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growth dynamics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Generates the top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 insights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data-driven recommendations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automatically.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Highlights both top- and bottom-performing markets to support managerial decision-making.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5AA020F-BB83-9963-9F0E-F4AEB35E09F6}"/>
                </a:ext>
              </a:extLst>
            </p:cNvPr>
            <p:cNvSpPr/>
            <p:nvPr/>
          </p:nvSpPr>
          <p:spPr>
            <a:xfrm>
              <a:off x="3956734" y="1325563"/>
              <a:ext cx="3271968" cy="485305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Overall Insight Module</a:t>
              </a:r>
            </a:p>
            <a:p>
              <a:pPr algn="ctr"/>
              <a:r>
                <a:rPr lang="zh-CN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AI-Generated Narrative Analysis</a:t>
              </a:r>
              <a:r>
                <a:rPr lang="zh-CN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68E285-10A8-7EC1-BEB0-87FDA1968535}"/>
              </a:ext>
            </a:extLst>
          </p:cNvPr>
          <p:cNvGrpSpPr/>
          <p:nvPr/>
        </p:nvGrpSpPr>
        <p:grpSpPr>
          <a:xfrm>
            <a:off x="8294353" y="1016645"/>
            <a:ext cx="3271968" cy="2974588"/>
            <a:chOff x="7552548" y="1340420"/>
            <a:chExt cx="3271968" cy="317781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E15BB30-798E-4B3A-9775-36A4D25EE386}"/>
                </a:ext>
              </a:extLst>
            </p:cNvPr>
            <p:cNvSpPr/>
            <p:nvPr/>
          </p:nvSpPr>
          <p:spPr>
            <a:xfrm>
              <a:off x="7552548" y="1340421"/>
              <a:ext cx="3271968" cy="317781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21066"/>
              </a:schemeClr>
            </a:solidFill>
            <a:ln w="19050">
              <a:solidFill>
                <a:srgbClr val="0055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E23BC9-BBC5-C15E-02D9-0F4BF42C210F}"/>
                </a:ext>
              </a:extLst>
            </p:cNvPr>
            <p:cNvSpPr txBox="1"/>
            <p:nvPr/>
          </p:nvSpPr>
          <p:spPr>
            <a:xfrm>
              <a:off x="7552548" y="1840582"/>
              <a:ext cx="3271968" cy="22929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Allows users to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 custom time ranges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compare multiple regions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interactively.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Computes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core KPIs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such as Total Sales, Average Weekly Sales, and Growth Rates (WoW, MoM, QoQ, YoY).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Detects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statistical anomalies (Z &gt; 2)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for rapid outlier identification.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Visualizes results through a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Regional Trend Plot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enabling side-by-side performance comparison.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395339D-EB20-BE14-9419-6657077801B4}"/>
                </a:ext>
              </a:extLst>
            </p:cNvPr>
            <p:cNvSpPr/>
            <p:nvPr/>
          </p:nvSpPr>
          <p:spPr>
            <a:xfrm>
              <a:off x="7552548" y="1340420"/>
              <a:ext cx="3271968" cy="485305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Dynamic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Metrics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</a:t>
              </a:r>
            </a:p>
            <a:p>
              <a:pPr algn="ctr"/>
              <a:r>
                <a:rPr lang="zh-CN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Interactive KPI &amp; Anomaly Engine</a:t>
              </a:r>
              <a:r>
                <a:rPr lang="zh-CN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71DA8D7E-7932-B2AE-66CB-959F39F8E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444" y="-13512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zh-CN" alt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	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C96E2BD-0CC8-9D7F-A38F-F90F3D55E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409" y="4015946"/>
            <a:ext cx="3024125" cy="270202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CEAAABC-6EC7-844E-4E40-3BB79D9AD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081" y="4902736"/>
            <a:ext cx="2578841" cy="176737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BD54C95-DC25-3428-FFA6-52655EAB3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674" y="4005140"/>
            <a:ext cx="2120853" cy="176737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25CDCBC-06C1-08C1-CADB-9B010EA1A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966" y="4285617"/>
            <a:ext cx="4127518" cy="60321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313E674-53B4-A450-BE54-576429007E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866" y="5255512"/>
            <a:ext cx="4168431" cy="762238"/>
          </a:xfrm>
          <a:prstGeom prst="rect">
            <a:avLst/>
          </a:prstGeom>
        </p:spPr>
      </p:pic>
      <p:sp>
        <p:nvSpPr>
          <p:cNvPr id="37" name="Down Arrow 36">
            <a:extLst>
              <a:ext uri="{FF2B5EF4-FFF2-40B4-BE49-F238E27FC236}">
                <a16:creationId xmlns:a16="http://schemas.microsoft.com/office/drawing/2014/main" id="{69324A9A-408B-C848-4945-EE25C35BDFDC}"/>
              </a:ext>
            </a:extLst>
          </p:cNvPr>
          <p:cNvSpPr/>
          <p:nvPr/>
        </p:nvSpPr>
        <p:spPr>
          <a:xfrm>
            <a:off x="2063578" y="4902736"/>
            <a:ext cx="259491" cy="352776"/>
          </a:xfrm>
          <a:prstGeom prst="downArrow">
            <a:avLst/>
          </a:prstGeom>
          <a:solidFill>
            <a:schemeClr val="tx2">
              <a:alpha val="2822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BA41F25-512A-63B9-76E6-AAB260AEC1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966" y="6215845"/>
            <a:ext cx="4168431" cy="42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811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DE89DDFA-EE35-960D-ECE4-075F9CB537E9}"/>
              </a:ext>
            </a:extLst>
          </p:cNvPr>
          <p:cNvSpPr txBox="1">
            <a:spLocks/>
          </p:cNvSpPr>
          <p:nvPr/>
        </p:nvSpPr>
        <p:spPr>
          <a:xfrm>
            <a:off x="717481" y="3561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Challenges &amp; Learnings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en-US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Prototype to Insight — Key Trade-offs </a:t>
            </a:r>
            <a:endParaRPr lang="en-US" sz="3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任意形状 12">
            <a:extLst>
              <a:ext uri="{FF2B5EF4-FFF2-40B4-BE49-F238E27FC236}">
                <a16:creationId xmlns:a16="http://schemas.microsoft.com/office/drawing/2014/main" id="{9E9212A3-5208-75A5-11A6-A7DD52910368}"/>
              </a:ext>
            </a:extLst>
          </p:cNvPr>
          <p:cNvSpPr/>
          <p:nvPr/>
        </p:nvSpPr>
        <p:spPr>
          <a:xfrm>
            <a:off x="453573" y="1564473"/>
            <a:ext cx="5209172" cy="509350"/>
          </a:xfrm>
          <a:custGeom>
            <a:avLst/>
            <a:gdLst>
              <a:gd name="connsiteX0" fmla="*/ 5209173 w 5209172"/>
              <a:gd name="connsiteY0" fmla="*/ 642888 h 1242578"/>
              <a:gd name="connsiteX1" fmla="*/ 5209173 w 5209172"/>
              <a:gd name="connsiteY1" fmla="*/ 1242578 h 1242578"/>
              <a:gd name="connsiteX2" fmla="*/ 0 w 5209172"/>
              <a:gd name="connsiteY2" fmla="*/ 1242578 h 1242578"/>
              <a:gd name="connsiteX3" fmla="*/ 0 w 5209172"/>
              <a:gd name="connsiteY3" fmla="*/ 642888 h 1242578"/>
              <a:gd name="connsiteX4" fmla="*/ 642888 w 5209172"/>
              <a:gd name="connsiteY4" fmla="*/ 0 h 1242578"/>
              <a:gd name="connsiteX5" fmla="*/ 4566285 w 5209172"/>
              <a:gd name="connsiteY5" fmla="*/ 0 h 1242578"/>
              <a:gd name="connsiteX6" fmla="*/ 5209173 w 5209172"/>
              <a:gd name="connsiteY6" fmla="*/ 64288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09172" h="1242578">
                <a:moveTo>
                  <a:pt x="5209173" y="642888"/>
                </a:moveTo>
                <a:lnTo>
                  <a:pt x="5209173" y="1242578"/>
                </a:lnTo>
                <a:lnTo>
                  <a:pt x="0" y="1242578"/>
                </a:lnTo>
                <a:lnTo>
                  <a:pt x="0" y="642888"/>
                </a:lnTo>
                <a:cubicBezTo>
                  <a:pt x="0" y="288410"/>
                  <a:pt x="288410" y="0"/>
                  <a:pt x="642888" y="0"/>
                </a:cubicBezTo>
                <a:lnTo>
                  <a:pt x="4566285" y="0"/>
                </a:lnTo>
                <a:cubicBezTo>
                  <a:pt x="4922033" y="0"/>
                  <a:pt x="5209173" y="288410"/>
                  <a:pt x="5209173" y="642888"/>
                </a:cubicBezTo>
                <a:close/>
              </a:path>
            </a:pathLst>
          </a:custGeom>
          <a:solidFill>
            <a:schemeClr val="accent1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41" name="任意形状 13">
            <a:extLst>
              <a:ext uri="{FF2B5EF4-FFF2-40B4-BE49-F238E27FC236}">
                <a16:creationId xmlns:a16="http://schemas.microsoft.com/office/drawing/2014/main" id="{09DFA0FA-BB75-D892-94AB-084325703B41}"/>
              </a:ext>
            </a:extLst>
          </p:cNvPr>
          <p:cNvSpPr/>
          <p:nvPr/>
        </p:nvSpPr>
        <p:spPr>
          <a:xfrm>
            <a:off x="453573" y="3298617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2" name="任意形状 14">
            <a:extLst>
              <a:ext uri="{FF2B5EF4-FFF2-40B4-BE49-F238E27FC236}">
                <a16:creationId xmlns:a16="http://schemas.microsoft.com/office/drawing/2014/main" id="{53BEEB7B-14DD-0082-BAE9-C5C44C7336F7}"/>
              </a:ext>
            </a:extLst>
          </p:cNvPr>
          <p:cNvSpPr/>
          <p:nvPr/>
        </p:nvSpPr>
        <p:spPr>
          <a:xfrm>
            <a:off x="453573" y="4392822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3" name="任意形状 15">
            <a:extLst>
              <a:ext uri="{FF2B5EF4-FFF2-40B4-BE49-F238E27FC236}">
                <a16:creationId xmlns:a16="http://schemas.microsoft.com/office/drawing/2014/main" id="{7A1A97AE-DDB1-EE45-3FDB-B2EC004DA31C}"/>
              </a:ext>
            </a:extLst>
          </p:cNvPr>
          <p:cNvSpPr/>
          <p:nvPr/>
        </p:nvSpPr>
        <p:spPr>
          <a:xfrm>
            <a:off x="453573" y="5487027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4" name="任意形状 16">
            <a:extLst>
              <a:ext uri="{FF2B5EF4-FFF2-40B4-BE49-F238E27FC236}">
                <a16:creationId xmlns:a16="http://schemas.microsoft.com/office/drawing/2014/main" id="{13F3E032-358C-47A4-D5A2-9694A0BBB0BB}"/>
              </a:ext>
            </a:extLst>
          </p:cNvPr>
          <p:cNvSpPr/>
          <p:nvPr/>
        </p:nvSpPr>
        <p:spPr>
          <a:xfrm>
            <a:off x="6524165" y="1564473"/>
            <a:ext cx="5209172" cy="509350"/>
          </a:xfrm>
          <a:custGeom>
            <a:avLst/>
            <a:gdLst>
              <a:gd name="connsiteX0" fmla="*/ 5209173 w 5209172"/>
              <a:gd name="connsiteY0" fmla="*/ 642888 h 1242578"/>
              <a:gd name="connsiteX1" fmla="*/ 5209173 w 5209172"/>
              <a:gd name="connsiteY1" fmla="*/ 1242578 h 1242578"/>
              <a:gd name="connsiteX2" fmla="*/ 0 w 5209172"/>
              <a:gd name="connsiteY2" fmla="*/ 1242578 h 1242578"/>
              <a:gd name="connsiteX3" fmla="*/ 0 w 5209172"/>
              <a:gd name="connsiteY3" fmla="*/ 642888 h 1242578"/>
              <a:gd name="connsiteX4" fmla="*/ 642888 w 5209172"/>
              <a:gd name="connsiteY4" fmla="*/ 0 h 1242578"/>
              <a:gd name="connsiteX5" fmla="*/ 4566284 w 5209172"/>
              <a:gd name="connsiteY5" fmla="*/ 0 h 1242578"/>
              <a:gd name="connsiteX6" fmla="*/ 5209173 w 5209172"/>
              <a:gd name="connsiteY6" fmla="*/ 64288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09172" h="1242578">
                <a:moveTo>
                  <a:pt x="5209173" y="642888"/>
                </a:moveTo>
                <a:lnTo>
                  <a:pt x="5209173" y="1242578"/>
                </a:lnTo>
                <a:lnTo>
                  <a:pt x="0" y="1242578"/>
                </a:lnTo>
                <a:lnTo>
                  <a:pt x="0" y="642888"/>
                </a:lnTo>
                <a:cubicBezTo>
                  <a:pt x="0" y="288410"/>
                  <a:pt x="288410" y="0"/>
                  <a:pt x="642888" y="0"/>
                </a:cubicBezTo>
                <a:lnTo>
                  <a:pt x="4566284" y="0"/>
                </a:lnTo>
                <a:cubicBezTo>
                  <a:pt x="4920762" y="0"/>
                  <a:pt x="5209173" y="288410"/>
                  <a:pt x="5209173" y="642888"/>
                </a:cubicBezTo>
                <a:close/>
              </a:path>
            </a:pathLst>
          </a:custGeom>
          <a:solidFill>
            <a:schemeClr val="accent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1" name="左右箭头 4">
            <a:extLst>
              <a:ext uri="{FF2B5EF4-FFF2-40B4-BE49-F238E27FC236}">
                <a16:creationId xmlns:a16="http://schemas.microsoft.com/office/drawing/2014/main" id="{F190D5DB-46A6-EECE-D122-D449B8B54466}"/>
              </a:ext>
            </a:extLst>
          </p:cNvPr>
          <p:cNvSpPr/>
          <p:nvPr/>
        </p:nvSpPr>
        <p:spPr>
          <a:xfrm>
            <a:off x="5740866" y="2545988"/>
            <a:ext cx="705173" cy="291886"/>
          </a:xfrm>
          <a:prstGeom prst="left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左右箭头 5">
            <a:extLst>
              <a:ext uri="{FF2B5EF4-FFF2-40B4-BE49-F238E27FC236}">
                <a16:creationId xmlns:a16="http://schemas.microsoft.com/office/drawing/2014/main" id="{F7D89928-92A6-A856-1D01-A24F2D225FD1}"/>
              </a:ext>
            </a:extLst>
          </p:cNvPr>
          <p:cNvSpPr/>
          <p:nvPr/>
        </p:nvSpPr>
        <p:spPr>
          <a:xfrm>
            <a:off x="5740866" y="3638493"/>
            <a:ext cx="705173" cy="291886"/>
          </a:xfrm>
          <a:prstGeom prst="left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左右箭头 6">
            <a:extLst>
              <a:ext uri="{FF2B5EF4-FFF2-40B4-BE49-F238E27FC236}">
                <a16:creationId xmlns:a16="http://schemas.microsoft.com/office/drawing/2014/main" id="{25D1F9A0-C364-D77D-E18C-B8A03D10EEA1}"/>
              </a:ext>
            </a:extLst>
          </p:cNvPr>
          <p:cNvSpPr/>
          <p:nvPr/>
        </p:nvSpPr>
        <p:spPr>
          <a:xfrm>
            <a:off x="5740867" y="4733548"/>
            <a:ext cx="705173" cy="291886"/>
          </a:xfrm>
          <a:prstGeom prst="left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文本框 20">
            <a:extLst>
              <a:ext uri="{FF2B5EF4-FFF2-40B4-BE49-F238E27FC236}">
                <a16:creationId xmlns:a16="http://schemas.microsoft.com/office/drawing/2014/main" id="{2FE64C01-FE31-E908-BFCD-9785BA684A5C}"/>
              </a:ext>
            </a:extLst>
          </p:cNvPr>
          <p:cNvSpPr txBox="1"/>
          <p:nvPr/>
        </p:nvSpPr>
        <p:spPr>
          <a:xfrm>
            <a:off x="1241016" y="1599630"/>
            <a:ext cx="34623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b="1" dirty="0">
                <a:solidFill>
                  <a:schemeClr val="bg1"/>
                </a:solidFill>
                <a:latin typeface="Times New Roman" panose="02020603050405020304" pitchFamily="18" charset="0"/>
                <a:ea typeface="Alibaba PuHuiTi" pitchFamily="18" charset="-122"/>
                <a:cs typeface="Times New Roman" panose="02020603050405020304" pitchFamily="18" charset="0"/>
              </a:rPr>
              <a:t>Challenge / Trade-off</a:t>
            </a:r>
            <a:endParaRPr kumimoji="1" lang="zh-CN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Alibaba PuHuiTi" pitchFamily="18" charset="-122"/>
              <a:cs typeface="Times New Roman" panose="02020603050405020304" pitchFamily="18" charset="0"/>
            </a:endParaRPr>
          </a:p>
        </p:txBody>
      </p:sp>
      <p:sp>
        <p:nvSpPr>
          <p:cNvPr id="66" name="文本框 23">
            <a:extLst>
              <a:ext uri="{FF2B5EF4-FFF2-40B4-BE49-F238E27FC236}">
                <a16:creationId xmlns:a16="http://schemas.microsoft.com/office/drawing/2014/main" id="{93D027CC-6E74-71D0-1A55-D2C0ACDE8690}"/>
              </a:ext>
            </a:extLst>
          </p:cNvPr>
          <p:cNvSpPr txBox="1"/>
          <p:nvPr/>
        </p:nvSpPr>
        <p:spPr>
          <a:xfrm>
            <a:off x="5820784" y="1728695"/>
            <a:ext cx="5453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2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VS</a:t>
            </a:r>
            <a:endParaRPr kumimoji="1" lang="zh-CN" altLang="en-US" sz="220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0" name="文本框 20">
            <a:extLst>
              <a:ext uri="{FF2B5EF4-FFF2-40B4-BE49-F238E27FC236}">
                <a16:creationId xmlns:a16="http://schemas.microsoft.com/office/drawing/2014/main" id="{78C2E69A-83EE-F50E-3A95-B4C9CBB1C4E7}"/>
              </a:ext>
            </a:extLst>
          </p:cNvPr>
          <p:cNvSpPr txBox="1"/>
          <p:nvPr/>
        </p:nvSpPr>
        <p:spPr>
          <a:xfrm>
            <a:off x="7488600" y="1599630"/>
            <a:ext cx="34623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b="1" dirty="0">
                <a:solidFill>
                  <a:schemeClr val="bg1"/>
                </a:solidFill>
                <a:latin typeface="Times New Roman" panose="02020603050405020304" pitchFamily="18" charset="0"/>
                <a:ea typeface="Alibaba PuHuiTi" pitchFamily="18" charset="-122"/>
                <a:cs typeface="Times New Roman" panose="02020603050405020304" pitchFamily="18" charset="0"/>
              </a:rPr>
              <a:t>Resolution / Learning</a:t>
            </a:r>
            <a:endParaRPr kumimoji="1" lang="zh-CN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Alibaba PuHuiTi" pitchFamily="18" charset="-122"/>
              <a:cs typeface="Times New Roman" panose="02020603050405020304" pitchFamily="18" charset="0"/>
            </a:endParaRPr>
          </a:p>
        </p:txBody>
      </p:sp>
      <p:sp>
        <p:nvSpPr>
          <p:cNvPr id="71" name="任意形状 13">
            <a:extLst>
              <a:ext uri="{FF2B5EF4-FFF2-40B4-BE49-F238E27FC236}">
                <a16:creationId xmlns:a16="http://schemas.microsoft.com/office/drawing/2014/main" id="{C988FF6A-6F13-40CE-AEDE-B09BF310B471}"/>
              </a:ext>
            </a:extLst>
          </p:cNvPr>
          <p:cNvSpPr/>
          <p:nvPr/>
        </p:nvSpPr>
        <p:spPr>
          <a:xfrm>
            <a:off x="453573" y="2204412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72" name="左右箭头 6">
            <a:extLst>
              <a:ext uri="{FF2B5EF4-FFF2-40B4-BE49-F238E27FC236}">
                <a16:creationId xmlns:a16="http://schemas.microsoft.com/office/drawing/2014/main" id="{874768B6-141E-B98D-FA19-AD2F62550A9D}"/>
              </a:ext>
            </a:extLst>
          </p:cNvPr>
          <p:cNvSpPr/>
          <p:nvPr/>
        </p:nvSpPr>
        <p:spPr>
          <a:xfrm>
            <a:off x="5740868" y="5828603"/>
            <a:ext cx="705173" cy="291886"/>
          </a:xfrm>
          <a:prstGeom prst="left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BB69AA1-B084-110B-A5A7-D1C88E6B30AF}"/>
              </a:ext>
            </a:extLst>
          </p:cNvPr>
          <p:cNvSpPr txBox="1"/>
          <p:nvPr/>
        </p:nvSpPr>
        <p:spPr>
          <a:xfrm>
            <a:off x="568272" y="2274802"/>
            <a:ext cx="497977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Schema Mapping Instability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occasionally misidentified critical fields like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column names varied across files.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B17E14E-7D76-696F-DAEC-5D907EA14FEC}"/>
              </a:ext>
            </a:extLst>
          </p:cNvPr>
          <p:cNvSpPr txBox="1"/>
          <p:nvPr/>
        </p:nvSpPr>
        <p:spPr>
          <a:xfrm>
            <a:off x="568271" y="3367307"/>
            <a:ext cx="497977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Persistence in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user interaction triggered a full script rerun, clearing computed summaries and breaking workflow continuity.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A5CE2FC-148C-0195-D734-7FDB8C400382}"/>
              </a:ext>
            </a:extLst>
          </p:cNvPr>
          <p:cNvSpPr txBox="1"/>
          <p:nvPr/>
        </p:nvSpPr>
        <p:spPr>
          <a:xfrm>
            <a:off x="568270" y="4462362"/>
            <a:ext cx="497977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Caching &amp; Performance Trade-off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Function-level caching improved speed but caused serialization issues with LLM clients and plotting objects.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0E24EE2-59D2-2A1A-284E-D107EA0DE7D0}"/>
              </a:ext>
            </a:extLst>
          </p:cNvPr>
          <p:cNvSpPr txBox="1"/>
          <p:nvPr/>
        </p:nvSpPr>
        <p:spPr>
          <a:xfrm>
            <a:off x="568269" y="5557417"/>
            <a:ext cx="497977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Responsiveness</a:t>
            </a:r>
          </a:p>
          <a:p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interactive charts caused lag on large datasets, limiting dashboard performance.</a:t>
            </a:r>
          </a:p>
        </p:txBody>
      </p:sp>
      <p:sp>
        <p:nvSpPr>
          <p:cNvPr id="81" name="任意形状 13">
            <a:extLst>
              <a:ext uri="{FF2B5EF4-FFF2-40B4-BE49-F238E27FC236}">
                <a16:creationId xmlns:a16="http://schemas.microsoft.com/office/drawing/2014/main" id="{69B0BA6D-7AB5-CBEA-887E-12BC7F63B31D}"/>
              </a:ext>
            </a:extLst>
          </p:cNvPr>
          <p:cNvSpPr/>
          <p:nvPr/>
        </p:nvSpPr>
        <p:spPr>
          <a:xfrm>
            <a:off x="6524165" y="3298617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2" name="任意形状 14">
            <a:extLst>
              <a:ext uri="{FF2B5EF4-FFF2-40B4-BE49-F238E27FC236}">
                <a16:creationId xmlns:a16="http://schemas.microsoft.com/office/drawing/2014/main" id="{68FF239E-02E3-3809-E2C3-9960295A8E64}"/>
              </a:ext>
            </a:extLst>
          </p:cNvPr>
          <p:cNvSpPr/>
          <p:nvPr/>
        </p:nvSpPr>
        <p:spPr>
          <a:xfrm>
            <a:off x="6524165" y="4392822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3" name="任意形状 15">
            <a:extLst>
              <a:ext uri="{FF2B5EF4-FFF2-40B4-BE49-F238E27FC236}">
                <a16:creationId xmlns:a16="http://schemas.microsoft.com/office/drawing/2014/main" id="{9F8879C5-A5F4-ADA6-3B65-E51BA198A64D}"/>
              </a:ext>
            </a:extLst>
          </p:cNvPr>
          <p:cNvSpPr/>
          <p:nvPr/>
        </p:nvSpPr>
        <p:spPr>
          <a:xfrm>
            <a:off x="6524165" y="5487027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4" name="任意形状 13">
            <a:extLst>
              <a:ext uri="{FF2B5EF4-FFF2-40B4-BE49-F238E27FC236}">
                <a16:creationId xmlns:a16="http://schemas.microsoft.com/office/drawing/2014/main" id="{3BB036AF-0C5D-4D7E-9916-78E5A05F12D0}"/>
              </a:ext>
            </a:extLst>
          </p:cNvPr>
          <p:cNvSpPr/>
          <p:nvPr/>
        </p:nvSpPr>
        <p:spPr>
          <a:xfrm>
            <a:off x="6524165" y="2204412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086388-D80E-564E-7D20-A2CBC64E1428}"/>
              </a:ext>
            </a:extLst>
          </p:cNvPr>
          <p:cNvSpPr txBox="1"/>
          <p:nvPr/>
        </p:nvSpPr>
        <p:spPr>
          <a:xfrm>
            <a:off x="6638864" y="2274802"/>
            <a:ext cx="49797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fallback rule-based system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heuristically detects date/region columns when LLM mapping fails. Combined semantic matching (LLM) with deterministic rules to ensure stable schema generation.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5C5851C-75E5-7874-CD41-2F353EF1E964}"/>
              </a:ext>
            </a:extLst>
          </p:cNvPr>
          <p:cNvSpPr txBox="1"/>
          <p:nvPr/>
        </p:nvSpPr>
        <p:spPr>
          <a:xfrm>
            <a:off x="6638863" y="3367307"/>
            <a:ext cx="50944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st.session_state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intermediate results (standardized data, KPI summaries). This preserved state consistency across user actions, improving usability and experience.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E9B30F1-99FC-D7A4-FF67-9845824A3219}"/>
              </a:ext>
            </a:extLst>
          </p:cNvPr>
          <p:cNvSpPr txBox="1"/>
          <p:nvPr/>
        </p:nvSpPr>
        <p:spPr>
          <a:xfrm>
            <a:off x="6638861" y="4428491"/>
            <a:ext cx="50944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caching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only cached pure-data functions (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load_csv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preprocess_data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while excluding LLM calls and matplotlib figures. This balance improved responsiveness without breaking dependencies.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1D042B6-E83F-38F2-B5B7-C8D9138EDF2E}"/>
              </a:ext>
            </a:extLst>
          </p:cNvPr>
          <p:cNvSpPr txBox="1"/>
          <p:nvPr/>
        </p:nvSpPr>
        <p:spPr>
          <a:xfrm>
            <a:off x="6638861" y="5557417"/>
            <a:ext cx="49797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Switched to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Matplotlib static plots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key metrics displayed separately. The dashboard remained visually clear while maintaining fast rendering.</a:t>
            </a:r>
          </a:p>
        </p:txBody>
      </p:sp>
    </p:spTree>
    <p:extLst>
      <p:ext uri="{BB962C8B-B14F-4D97-AF65-F5344CB8AC3E}">
        <p14:creationId xmlns:p14="http://schemas.microsoft.com/office/powerpoint/2010/main" val="2199454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78C403-C0E1-33CA-6A78-D27207E8B6E0}"/>
              </a:ext>
            </a:extLst>
          </p:cNvPr>
          <p:cNvSpPr txBox="1">
            <a:spLocks/>
          </p:cNvSpPr>
          <p:nvPr/>
        </p:nvSpPr>
        <p:spPr>
          <a:xfrm>
            <a:off x="3564709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lang="zh-CN" alt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zh-CN" alt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AC9CD-4A1D-21A3-83D3-CAA85A57A3F2}"/>
              </a:ext>
            </a:extLst>
          </p:cNvPr>
          <p:cNvSpPr txBox="1"/>
          <p:nvPr/>
        </p:nvSpPr>
        <p:spPr>
          <a:xfrm>
            <a:off x="1236668" y="1140073"/>
            <a:ext cx="4656081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endParaRPr lang="en-US" altLang="zh-CN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retail analytics prototype that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sales trend detection, anomaly discovery, and business insight generation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turning raw weekly data into actionable intelligence within seconds.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AC29B-5B47-F566-52E6-3482F4734005}"/>
              </a:ext>
            </a:extLst>
          </p:cNvPr>
          <p:cNvSpPr txBox="1"/>
          <p:nvPr/>
        </p:nvSpPr>
        <p:spPr>
          <a:xfrm>
            <a:off x="1236668" y="2786896"/>
            <a:ext cx="465608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Modules</a:t>
            </a:r>
          </a:p>
          <a:p>
            <a:endParaRPr lang="en-US" altLang="zh-CN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LLM-Powered Preprocessing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Standardizes inconsistent CSV/Excel schemas (Region, Week, Sales, etc.) via Ollama API + rule-based fallback.</a:t>
            </a: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KPI Engine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Total Sales, Growth %, and Z-score anomalies (Z &gt; 2) across custom date ranges and multiple regions.</a:t>
            </a: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 Generator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Summarizes short-, medium-, and long-term trends, highlights top/bottom regions, and recommends next business actions.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ED863-DFB5-5B7C-80B2-36402E042C80}"/>
              </a:ext>
            </a:extLst>
          </p:cNvPr>
          <p:cNvSpPr txBox="1"/>
          <p:nvPr/>
        </p:nvSpPr>
        <p:spPr>
          <a:xfrm>
            <a:off x="7249377" y="1149617"/>
            <a:ext cx="465608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&amp; Repository</a:t>
            </a:r>
          </a:p>
          <a:p>
            <a:endParaRPr lang="en-US" altLang="zh-CN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/>
              <a:t>🌐</a:t>
            </a:r>
            <a:r>
              <a:rPr lang="zh-CN" altLang="en-US" sz="1600" dirty="0"/>
              <a:t> 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</a:p>
          <a:p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-US" sz="1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github.com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CynthiaShiyue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/Retail-Data-to-Insight-Agent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5C2F57-2813-1755-A2C4-A2374A8275C0}"/>
              </a:ext>
            </a:extLst>
          </p:cNvPr>
          <p:cNvSpPr txBox="1"/>
          <p:nvPr/>
        </p:nvSpPr>
        <p:spPr>
          <a:xfrm>
            <a:off x="7249377" y="3064387"/>
            <a:ext cx="46560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endParaRPr lang="en-US" altLang="zh-CN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Anomaly Detection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Isolation Forest for contextual pattern recognition.</a:t>
            </a:r>
          </a:p>
          <a:p>
            <a:pPr lvl="1"/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Analytics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natural-language query interface (e.g., “Which region grew fastest last quarter?”).</a:t>
            </a: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Predictive Forecasting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ARIMA/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forecast next-quarter sales and marketing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EC38D4F-FBC4-EC43-357B-6F25A7AA6903}"/>
              </a:ext>
            </a:extLst>
          </p:cNvPr>
          <p:cNvGrpSpPr/>
          <p:nvPr/>
        </p:nvGrpSpPr>
        <p:grpSpPr>
          <a:xfrm>
            <a:off x="7342392" y="1667439"/>
            <a:ext cx="1794541" cy="425861"/>
            <a:chOff x="5029199" y="2762182"/>
            <a:chExt cx="1794541" cy="425861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CBC20391-E4B3-74EC-7A3F-1BBC97651809}"/>
                </a:ext>
              </a:extLst>
            </p:cNvPr>
            <p:cNvSpPr/>
            <p:nvPr/>
          </p:nvSpPr>
          <p:spPr>
            <a:xfrm>
              <a:off x="5029199" y="2762182"/>
              <a:ext cx="1794541" cy="42586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Video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16A0F7D-F879-4608-F4C3-4F2888E1DD51}"/>
                </a:ext>
              </a:extLst>
            </p:cNvPr>
            <p:cNvSpPr/>
            <p:nvPr/>
          </p:nvSpPr>
          <p:spPr>
            <a:xfrm>
              <a:off x="5141707" y="2837122"/>
              <a:ext cx="275979" cy="27597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riangle 15">
              <a:extLst>
                <a:ext uri="{FF2B5EF4-FFF2-40B4-BE49-F238E27FC236}">
                  <a16:creationId xmlns:a16="http://schemas.microsoft.com/office/drawing/2014/main" id="{78C0CFBF-E5F9-AE8C-41FE-0DF6D5ABCD7D}"/>
                </a:ext>
              </a:extLst>
            </p:cNvPr>
            <p:cNvSpPr/>
            <p:nvPr/>
          </p:nvSpPr>
          <p:spPr>
            <a:xfrm rot="5400000">
              <a:off x="5212563" y="2909046"/>
              <a:ext cx="167228" cy="14416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F2CEC428-8DA9-FB27-02A9-401B4E8DC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1635" y="1260405"/>
            <a:ext cx="567675" cy="70959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BC24C004-CDF9-30FA-44AF-A08F1EA0FF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15801"/>
          <a:stretch>
            <a:fillRect/>
          </a:stretch>
        </p:blipFill>
        <p:spPr>
          <a:xfrm>
            <a:off x="6440763" y="3070567"/>
            <a:ext cx="808614" cy="838597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5C87DBE-93CD-BEAC-7745-713302847F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6586"/>
          <a:stretch>
            <a:fillRect/>
          </a:stretch>
        </p:blipFill>
        <p:spPr>
          <a:xfrm>
            <a:off x="487420" y="1251421"/>
            <a:ext cx="691398" cy="7209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E403E0F3-B3D0-E0A9-5A4E-484FD5CAF6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7756"/>
          <a:stretch>
            <a:fillRect/>
          </a:stretch>
        </p:blipFill>
        <p:spPr>
          <a:xfrm>
            <a:off x="381650" y="2836324"/>
            <a:ext cx="902938" cy="91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116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ke Light">
      <a:dk1>
        <a:srgbClr val="001A57"/>
      </a:dk1>
      <a:lt1>
        <a:srgbClr val="FFFFFF"/>
      </a:lt1>
      <a:dk2>
        <a:srgbClr val="666666"/>
      </a:dk2>
      <a:lt2>
        <a:srgbClr val="E2E6ED"/>
      </a:lt2>
      <a:accent1>
        <a:srgbClr val="005587"/>
      </a:accent1>
      <a:accent2>
        <a:srgbClr val="0577B1"/>
      </a:accent2>
      <a:accent3>
        <a:srgbClr val="FFD960"/>
      </a:accent3>
      <a:accent4>
        <a:srgbClr val="C84E00"/>
      </a:accent4>
      <a:accent5>
        <a:srgbClr val="993399"/>
      </a:accent5>
      <a:accent6>
        <a:srgbClr val="339898"/>
      </a:accent6>
      <a:hlink>
        <a:srgbClr val="E89923"/>
      </a:hlink>
      <a:folHlink>
        <a:srgbClr val="E8992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9" id="{C58706EC-4DAA-F246-95EE-49B110B6D476}" vid="{C6C0FECA-2C28-FD45-BFCA-DB4D8E0E65F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218</TotalTime>
  <Words>761</Words>
  <Application>Microsoft Macintosh PowerPoint</Application>
  <PresentationFormat>Widescreen</PresentationFormat>
  <Paragraphs>86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Alibaba PuHuiTi</vt:lpstr>
      <vt:lpstr>Arial</vt:lpstr>
      <vt:lpstr>Calibri</vt:lpstr>
      <vt:lpstr>Calibri Light</vt:lpstr>
      <vt:lpstr>Times New Roman</vt:lpstr>
      <vt:lpstr>Wingdings</vt:lpstr>
      <vt:lpstr>Office Theme</vt:lpstr>
      <vt:lpstr>Problem &amp; Objective   ——From Manual Reporting to Automated Insight</vt:lpstr>
      <vt:lpstr>Solution Architecture         —— From Data to Insight</vt:lpstr>
      <vt:lpstr>Implementation Highlights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 </dc:creator>
  <cp:lastModifiedBy>Shiyue Zhou</cp:lastModifiedBy>
  <cp:revision>3</cp:revision>
  <dcterms:created xsi:type="dcterms:W3CDTF">2025-10-01T19:26:13Z</dcterms:created>
  <dcterms:modified xsi:type="dcterms:W3CDTF">2025-11-08T19:26:36Z</dcterms:modified>
</cp:coreProperties>
</file>